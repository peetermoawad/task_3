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76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C167"/>
                </a:solidFill>
              </a:defRPr>
            </a:pPr>
            <a:r>
              <a:t>MACHINE LEARNING ENGINEERING INTERNSHIP</a:t>
            </a:r>
          </a:p>
          <a:p>
            <a:pPr>
              <a:spcBef>
                <a:spcPts val="1200"/>
              </a:spcBef>
              <a:defRPr sz="3600" b="1">
                <a:solidFill>
                  <a:srgbClr val="F8FAFC"/>
                </a:solidFill>
              </a:defRPr>
            </a:pPr>
            <a:r>
              <a:t>Uber Fare Prediction &amp; Deployment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End-to-End Regression Pipeline: From Exploratory Data Analysis &amp; Robust Preprocessing to Hyperparameter Tuning and Production Flask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4389120"/>
            <a:ext cx="2926080" cy="548640"/>
          </a:xfrm>
          <a:prstGeom prst="roundRect">
            <a:avLst/>
          </a:prstGeom>
          <a:solidFill>
            <a:srgbClr val="1A233A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389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Task 1: EDA &amp; Outliers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389120"/>
            <a:ext cx="2926080" cy="548640"/>
          </a:xfrm>
          <a:prstGeom prst="roundRect">
            <a:avLst/>
          </a:prstGeom>
          <a:solidFill>
            <a:srgbClr val="1A233A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4389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Task 2: Leak-Free 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4389120"/>
            <a:ext cx="2926080" cy="548640"/>
          </a:xfrm>
          <a:prstGeom prst="roundRect">
            <a:avLst/>
          </a:prstGeom>
          <a:solidFill>
            <a:srgbClr val="06C167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43891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Task 3: Model Comparison &amp;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TASK 2 &amp; 3 OVERVIEW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Executive Summary &amp; Core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6EF1"/>
                </a:solidFill>
              </a:defRPr>
            </a:pPr>
            <a:r>
              <a:t>1. The Core Objective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Predict Continuous Fare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Build a robust regression system that accurately estimates trip fare amounts ($) from pickup/dropoff coordinates, trip distance, and temporal attributes while preventing data leakage.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2. Leak-Free Pipeline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Automated scikit-learn Workflow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Construct a unified Pipeline &amp; ColumnTransformer that handles imputation, scaling, and feature transformation strictly within training cross-validation folds.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64224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3. Model Benchmarking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Baseline vs. Tuned Ensembles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Compare 5 distinct model families (Linear, Ridge, Decision Tree, Random Forest, Gradient Boosting) using 5-Fold CV and test on a locked hold-out 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82880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76EF1"/>
                </a:solidFill>
              </a:defRPr>
            </a:pPr>
            <a:r>
              <a:t>4. Production Service</a:t>
            </a:r>
          </a:p>
          <a:p>
            <a:pPr>
              <a:spcBef>
                <a:spcPts val="800"/>
              </a:spcBef>
              <a:defRPr sz="1600" b="1">
                <a:solidFill>
                  <a:srgbClr val="F8FAFC"/>
                </a:solidFill>
              </a:defRPr>
            </a:pPr>
            <a:r>
              <a:t>Flask Web Application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Deploy the serialized pipeline (joblib) into an interactive Flask UI with robust input validation, spatial feature engineering, and edge-case handling.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STEP 1 &amp; 2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Data Cleaning: Missing Values &amp; Duplicate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C167"/>
                </a:solidFill>
              </a:defRPr>
            </a:pPr>
            <a:r>
              <a:t>MISSING VALUES STRATEGY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Diagnosis: MCAR (Missing Completely At Random)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Quantification: Exactly ~5 rows out of 500k+ (&lt; 0.002%) lacked pickup/dropoff coordinates and fare values.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Decision: Directly dropped via df.dropna().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Technical Justification: Missingness is infinitesimally small (&lt; 0.01%). GPS coordinates and target values cannot be meaningfully imputed with mean or median without distorting spatial relationships.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Leakage Prevention: Missingness evaluated and handled upfront before train/test splitting.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6EF1"/>
                </a:solidFill>
              </a:defRPr>
            </a:pPr>
            <a:r>
              <a:t>DUPLICATE ELIMINATION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Exact &amp; Key-Based Deduplication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Exact Duplicates: Rows sharing identical values across all attributes were identified and removed.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Key-Based Duplicates: Verified that repeating unique transaction keys represented redundant scraping queries.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Irrelevant Entity Columns: Dropped high-cardinality nominal keys with zero predictive signal: User ID, User Name, Driver Name, Car Condition, Weather, Traffic Condition.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Outcome: Eliminated artificial weight inflation and prevented identical samples from leaking across train and test 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DATA CLEANING PHILOSOPHY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Outlier Treatment: Domain Rules vs. Pure IQR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THE DANGER OF PURE IQR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Why Standard IQR Failed on NYC Fares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IQR Threshold: Q3 + 1.5 * IQR resulted in a cutoff of only $22.27.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Catastrophic Deletion: This blanket rule flagged 43,322 rows (8.7% of entire dataset) as 'outliers'.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Domain Reality: An Uber ride costing $25 - $70 is extremely common in NYC (e.g., Manhattan to JFK airport).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Consequence of Blanket IQR: Deleting valid expensive rides would cripple the model's ability to ever predict airport and long-distance trips.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C167"/>
                </a:solidFill>
              </a:defRPr>
            </a:pPr>
            <a:r>
              <a:t>DOMAIN-KNOWLEDGE APPROACH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</a:defRPr>
            </a:pPr>
            <a:r>
              <a:t>Targeted Physical &amp; Business Constraints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Rule 1 (Data Errors): fare_amount &lt;= 0 removed (impossible negative fares from meter glitches).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Rule 2 (Sensor Anomaly): distance &lt; 1 km with fare_amount &gt; $100 removed (obvious data entry errors).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Rule 3 (MSE Protection): fare_amount &gt; $200 capped / excluded to protect quadratic loss without discarding legitimate mid-to-high fares.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Key Takeaway: Distinguish between 'Data Errors' (remove) and 'Rare Real Truth' (preserve for learning).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STEP 5 &amp; 6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Feature Engineering: Transforming Raw Data into Predictors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6EF1"/>
                </a:solidFill>
              </a:defRPr>
            </a:pPr>
            <a:r>
              <a:t>Temporal Decomposition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hour, day, month, year, weekday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Extracted directly from pickup datetime string. Enables capturing time-of-day surge patterns, seasonal fare variations, and annual price inflation.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78308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C167"/>
                </a:solidFill>
              </a:defRPr>
            </a:pPr>
            <a:r>
              <a:t>Night &amp; Weekend Signals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is_night &amp; is_weekend Flags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Binary indicators engineered based on Task 1 EDA: Night rides (10 PM - 5 AM) and weekend rides show distinct fare surge distributions.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178308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Spatial Distance &amp; Bearing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Haversine Distance &amp; Direction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Computed precise great-circle distance (km) and compass bearing angle between pickup and dropoff coordinates using spherical geometry.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2336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6EF1"/>
                </a:solidFill>
              </a:defRPr>
            </a:pPr>
            <a:r>
              <a:t>Airport Proximity Features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near_jfk, near_ewr, near_lga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Calculated distance to all 3 NYC tri-state major airports. Trips within the 20th percentile radius exhibit significant fixed airport surcharges.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88620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402336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C167"/>
                </a:solidFill>
              </a:defRPr>
            </a:pPr>
            <a:r>
              <a:t>Trip Segmentation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trip_segment (Short / Medium / Long)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Quantile-based binning (0, 1, 2) on trip distance to model non-linear price steps between short hops, suburban routes, and highway rides.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88620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402336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Strict Leakage Prevention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fare_per_km Excluded from X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CRITICAL: Metrics derived from fare_amount (such as price per km) were strictly forbidden in feature matrix to prevent fatal target leakage.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STEP 6 &amp; 7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Feature Selection: Multicollinearity &amp; Noise Reduction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6EF1"/>
                </a:solidFill>
              </a:defRPr>
            </a:pPr>
            <a:r>
              <a:t>STAGE 1: MULTICOLLINEARITY</a:t>
            </a:r>
          </a:p>
          <a:p>
            <a:pPr>
              <a:spcBef>
                <a:spcPts val="600"/>
              </a:spcBef>
              <a:defRPr sz="1500" b="1">
                <a:solidFill>
                  <a:srgbClr val="F8FAFC"/>
                </a:solidFill>
              </a:defRPr>
            </a:pPr>
            <a:r>
              <a:t>Eliminating Coordinate Redundancy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Raw GPS coordinates (latitudes &amp; longitudes) have extreme cross-correlations.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Once distance, bearing, and airport distances were engineered, raw coordinates became redundant.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Decision: Dropped raw coordinate columns to protect linear model weights and avoid singular covariance matrices.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C167"/>
                </a:solidFill>
              </a:defRPr>
            </a:pPr>
            <a:r>
              <a:t>STAGE 2: FILTER METHOD</a:t>
            </a:r>
          </a:p>
          <a:p>
            <a:pPr>
              <a:spcBef>
                <a:spcPts val="600"/>
              </a:spcBef>
              <a:defRPr sz="1500" b="1">
                <a:solidFill>
                  <a:srgbClr val="F8FAFC"/>
                </a:solidFill>
              </a:defRPr>
            </a:pPr>
            <a:r>
              <a:t>Target Correlation Threshold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Computed correlation of all candidate features against target fare_amount.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Features exhibiting near-zero linear association (|r| &lt; 0.01) were evaluated.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Day of month and raw passenger count demonstrated virtually zero correlation with fare pricing.</a:t>
            </a:r>
          </a:p>
          <a:p>
            <a:pPr>
              <a:spcBef>
                <a:spcPts val="800"/>
              </a:spcBef>
              <a:defRPr sz="1150">
                <a:solidFill>
                  <a:srgbClr val="94A3B8"/>
                </a:solidFill>
              </a:defRPr>
            </a:pPr>
            <a:r>
              <a:t>• Decision: Dropped low-correlation noise features, simplifying model dimensionality.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FINAL FEATURE SET</a:t>
            </a:r>
          </a:p>
          <a:p>
            <a:pPr>
              <a:spcBef>
                <a:spcPts val="600"/>
              </a:spcBef>
              <a:defRPr sz="1500" b="1">
                <a:solidFill>
                  <a:srgbClr val="F8FAFC"/>
                </a:solidFill>
              </a:defRPr>
            </a:pPr>
            <a:r>
              <a:t>Optimal Feature Vector (10 Features)</a:t>
            </a:r>
          </a:p>
          <a:p>
            <a:pPr>
              <a:spcBef>
                <a:spcPts val="600"/>
              </a:spcBef>
              <a:defRPr sz="1150">
                <a:solidFill>
                  <a:srgbClr val="06C167"/>
                </a:solidFill>
              </a:defRPr>
            </a:pPr>
            <a:r>
              <a:t>✓ distance (Primary driver)</a:t>
            </a:r>
          </a:p>
          <a:p>
            <a:pPr>
              <a:spcBef>
                <a:spcPts val="600"/>
              </a:spcBef>
              <a:defRPr sz="1150">
                <a:solidFill>
                  <a:srgbClr val="06C167"/>
                </a:solidFill>
              </a:defRPr>
            </a:pPr>
            <a:r>
              <a:t>✓ hour (Peak vs off-peak)</a:t>
            </a:r>
          </a:p>
          <a:p>
            <a:pPr>
              <a:spcBef>
                <a:spcPts val="600"/>
              </a:spcBef>
              <a:defRPr sz="1150">
                <a:solidFill>
                  <a:srgbClr val="06C167"/>
                </a:solidFill>
              </a:defRPr>
            </a:pPr>
            <a:r>
              <a:t>✓ month &amp; year (Trend / inflation)</a:t>
            </a:r>
          </a:p>
          <a:p>
            <a:pPr>
              <a:spcBef>
                <a:spcPts val="600"/>
              </a:spcBef>
              <a:defRPr sz="1150">
                <a:solidFill>
                  <a:srgbClr val="06C167"/>
                </a:solidFill>
              </a:defRPr>
            </a:pPr>
            <a:r>
              <a:t>✓ bearing (Trip trajectory)</a:t>
            </a:r>
          </a:p>
          <a:p>
            <a:pPr>
              <a:spcBef>
                <a:spcPts val="600"/>
              </a:spcBef>
              <a:defRPr sz="1150">
                <a:solidFill>
                  <a:srgbClr val="06C167"/>
                </a:solidFill>
              </a:defRPr>
            </a:pPr>
            <a:r>
              <a:t>✓ is_night &amp; trip_segment</a:t>
            </a:r>
          </a:p>
          <a:p>
            <a:pPr>
              <a:spcBef>
                <a:spcPts val="600"/>
              </a:spcBef>
              <a:defRPr sz="1150">
                <a:solidFill>
                  <a:srgbClr val="06C167"/>
                </a:solidFill>
              </a:defRPr>
            </a:pPr>
            <a:r>
              <a:t>✓ near_jfk, near_ewr, near_lga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STEP 8, 9 &amp; 10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Zero-Leakage Architecture: scikit-learn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1887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C167"/>
                </a:solidFill>
              </a:defRPr>
            </a:pPr>
            <a:r>
              <a:t>HOLD-OUT SPLIT STRATEGY (TRAIN: 80% | TEST: 20%)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Data split occurred BEFORE fitting any scaler or imputer. The 20% test set was locked in cold storage and never touched during transformation, cross-validation, or hyperparameter search.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2560320" cy="30175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6EF1"/>
                </a:solidFill>
              </a:defRPr>
            </a:pPr>
            <a:r>
              <a:t>1. Input Data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Raw Pandas X_train / X_test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10 selected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017520"/>
            <a:ext cx="2560320" cy="30175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31546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C167"/>
                </a:solidFill>
              </a:defRPr>
            </a:pPr>
            <a:r>
              <a:t>2. Numeric Branch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SimpleImputer + StandardScaler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Applied only to continuous features (distance, hour, bearing, year, month)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017520"/>
            <a:ext cx="2560320" cy="30175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31546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3. Categorical / Flags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Passthrough Transformer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Leaves 0/1 binary and ordinal columns intact (no unnecessary scaling)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017520"/>
            <a:ext cx="2560320" cy="30175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3154680"/>
            <a:ext cx="2286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76EF1"/>
                </a:solidFill>
              </a:defRPr>
            </a:pPr>
            <a:r>
              <a:t>4. Estimator</a:t>
            </a:r>
          </a:p>
          <a:p>
            <a:pPr>
              <a:spcBef>
                <a:spcPts val="400"/>
              </a:spcBef>
              <a:defRPr sz="1300" b="1">
                <a:solidFill>
                  <a:srgbClr val="F8FAFC"/>
                </a:solidFill>
              </a:defRPr>
            </a:pPr>
            <a:r>
              <a:t>Swappable Regressor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Ridge / Decision Tree / Random Forest encapsulated in single object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TASK 3 MODEL COMPARISON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Model Benchmarking &amp; Evaluation (Task 3 Part A)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852160" cy="164790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0" y="1645920"/>
            <a:ext cx="4602175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828800"/>
            <a:ext cx="4114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C167"/>
                </a:solidFill>
              </a:defRPr>
            </a:pPr>
            <a:r>
              <a:t>BENCHMARK OBSERVATIONS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Why Tree Ensembles Outperformed Linear Models</a:t>
            </a:r>
          </a:p>
          <a:p>
            <a:pPr>
              <a:spcBef>
                <a:spcPts val="700"/>
              </a:spcBef>
              <a:defRPr sz="1150">
                <a:solidFill>
                  <a:srgbClr val="94A3B8"/>
                </a:solidFill>
              </a:defRPr>
            </a:pPr>
            <a:r>
              <a:t>• Linear &amp; Ridge Regression: Reached R² ≈ 0.38 and MAE ≈ $4.32. Linear assumptions cannot model the flat initial base fare followed by diminishing distance curves.</a:t>
            </a:r>
          </a:p>
          <a:p>
            <a:pPr>
              <a:spcBef>
                <a:spcPts val="700"/>
              </a:spcBef>
              <a:defRPr sz="1150">
                <a:solidFill>
                  <a:srgbClr val="94A3B8"/>
                </a:solidFill>
              </a:defRPr>
            </a:pPr>
            <a:r>
              <a:t>• Decision Tree: Reached R² ≈ 0.73, capturing non-linear steps but vulnerable to variance and overfitting on leaf nodes.</a:t>
            </a:r>
          </a:p>
          <a:p>
            <a:pPr>
              <a:spcBef>
                <a:spcPts val="700"/>
              </a:spcBef>
              <a:defRPr sz="1150">
                <a:solidFill>
                  <a:srgbClr val="94A3B8"/>
                </a:solidFill>
              </a:defRPr>
            </a:pPr>
            <a:r>
              <a:t>• Random Forest Regressor: The undisputed champion, achieving R² = 0.807 and MAE = $1.93 on held-out test data.</a:t>
            </a:r>
          </a:p>
          <a:p>
            <a:pPr>
              <a:spcBef>
                <a:spcPts val="700"/>
              </a:spcBef>
              <a:defRPr sz="1150">
                <a:solidFill>
                  <a:srgbClr val="94A3B8"/>
                </a:solidFill>
              </a:defRPr>
            </a:pPr>
            <a:r>
              <a:t>• Gradient Boosting: Showed strong accuracy (R² ≈ 0.78) but took considerably longer inference time than Random Forest.</a:t>
            </a:r>
          </a:p>
          <a:p>
            <a:pPr>
              <a:spcBef>
                <a:spcPts val="700"/>
              </a:spcBef>
              <a:defRPr sz="1150">
                <a:solidFill>
                  <a:srgbClr val="94A3B8"/>
                </a:solidFill>
              </a:defRPr>
            </a:pPr>
            <a:r>
              <a:t>• Selection Decision: Random Forest chosen for production deployment due to superior accuracy, resilience to outliers, and instant inference latency.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STEP 12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Hyperparameter Tuning: Random Forest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6EF1"/>
                </a:solidFill>
              </a:defRPr>
            </a:pPr>
            <a:r>
              <a:t>SEARCH METHODOLOGY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Two-Stage Coarse-to-Fine Tuning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Stage 1 (RandomizedSearchCV): Broad exploratory search across 20 candidate combinations to discover high-performing hyperparameter regions without exhaustive compute overhead.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Stage 2 (GridSearchCV): Narrow refinement focused tightly around optimal parameters.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Cross-Validation: 5-Fold CV using neg_root_mean_squared_error as scoring metric to penalize large pricing errors.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Zero Contamination: Tuning was strictly executed on X_train folds only — test set remained untouched.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C167"/>
                </a:solidFill>
              </a:defRPr>
            </a:pPr>
            <a:r>
              <a:t>TUNED CONFIGURATION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Best Discovered Hyperparameters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✓ n_estimators: 150 trees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Sufficient ensemble stability without runaway memory consumption.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✓ max_depth: None (Unconstrained)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Allows trees to split until pure or leaf minimums, mitigated by min_samples_split.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✓ min_samples_split: 10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Prevents trees from memorizing individual idiosyncratic noisy taxi rides.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✓ max_features: 'sqrt'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Decorrelates individual trees, dramatically boosting ensemble variance reduction.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✓ n_jobs: -1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Full CPU parallelization across all available cores for rapid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PERFORMANCE METRICS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Final Quantitative Results: Baseline vs. Tuned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219456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C167"/>
                </a:solidFill>
              </a:defRPr>
            </a:pPr>
            <a:r>
              <a:t>HELD-OUT TEST SET EVALUATION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103628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3886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8FAFC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C167"/>
                          </a:solidFill>
                        </a:defRPr>
                      </a:pPr>
                      <a:r>
                        <a:t>MAE ($)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C167"/>
                          </a:solidFill>
                        </a:defRPr>
                      </a:pPr>
                      <a:r>
                        <a:t>RMSE ($)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C167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C167"/>
                          </a:solidFill>
                        </a:defRPr>
                      </a:pPr>
                      <a:r>
                        <a:t>Relative MAE Gain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Baseline — Ridge (alpha=1.0)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$4.323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$7.523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0.3811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F8FAFC"/>
                          </a:solidFill>
                        </a:defRPr>
                      </a:pPr>
                      <a:r>
                        <a:t>Reference Baseline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Tuned — Random Forest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C167"/>
                          </a:solidFill>
                        </a:defRPr>
                      </a:pPr>
                      <a:r>
                        <a:t>$1.933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C167"/>
                          </a:solidFill>
                        </a:defRPr>
                      </a:pPr>
                      <a:r>
                        <a:t>$4.199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C167"/>
                          </a:solidFill>
                        </a:defRPr>
                      </a:pPr>
                      <a:r>
                        <a:t>0.8073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C167"/>
                          </a:solidFill>
                        </a:defRPr>
                      </a:pPr>
                      <a:r>
                        <a:t>55.3% Error Reduction</a:t>
                      </a:r>
                    </a:p>
                  </a:txBody>
                  <a:tcPr>
                    <a:solidFill>
                      <a:srgbClr val="141A2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Net Performance Gain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+ $2.39 cheaper error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+ $3.32 lower RMSE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+ 111.8% R² jump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Dominant Superiority</a:t>
                      </a:r>
                    </a:p>
                  </a:txBody>
                  <a:tcPr>
                    <a:solidFill>
                      <a:srgbClr val="1A233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3474720" cy="192024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51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MAE Reduction</a:t>
            </a:r>
          </a:p>
          <a:p>
            <a:pPr>
              <a:spcBef>
                <a:spcPts val="200"/>
              </a:spcBef>
              <a:defRPr sz="2400" b="1">
                <a:solidFill>
                  <a:srgbClr val="06C167"/>
                </a:solidFill>
              </a:defRPr>
            </a:pPr>
            <a:r>
              <a:t>55.3% ↓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Average absolute dollar prediction error dropped from $4.32 to under $1.93 per trip.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4114800"/>
            <a:ext cx="3474720" cy="192024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4251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Explained Variance (R²)</a:t>
            </a:r>
          </a:p>
          <a:p>
            <a:pPr>
              <a:spcBef>
                <a:spcPts val="200"/>
              </a:spcBef>
              <a:defRPr sz="2400" b="1">
                <a:solidFill>
                  <a:srgbClr val="06C167"/>
                </a:solidFill>
              </a:defRPr>
            </a:pPr>
            <a:r>
              <a:t>0.807 ↑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Model explains over 80.7% of total variance in trip fares across NYC.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4114800"/>
            <a:ext cx="3474720" cy="192024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42519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RMSE Stability</a:t>
            </a:r>
          </a:p>
          <a:p>
            <a:pPr>
              <a:spcBef>
                <a:spcPts val="200"/>
              </a:spcBef>
              <a:defRPr sz="2400" b="1">
                <a:solidFill>
                  <a:srgbClr val="06C167"/>
                </a:solidFill>
              </a:defRPr>
            </a:pPr>
            <a:r>
              <a:t>$4.20 ↓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Large outlier pricing penalties drastically reduced, stabilizing high-fare estimations.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TASK 3 PART C &amp; D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Production Deployment &amp; Live Verification (Flask App)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572000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206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76EF1"/>
                </a:solidFill>
              </a:defRPr>
            </a:pPr>
            <a:r>
              <a:t>FLASK ARCHITECTURE &amp; WORKFLOW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Microservice Pipeline Serving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Artifact Serialization: Model saved as uber_fare_model.pkl (full Pipeline) along with feature_columns.pkl and segment_bins.pkl.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Input Validation: Real-time validation checks distance &gt; 0, realistic bounds (&lt;= 100 km), and parses datetime string.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On-the-Fly Feature Extraction: Recreates is_night, is_weekend, trip_segment, and airport distances for any incoming request.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Fault Tolerance: Missing optional coordinates gracefully fallback to default regional medians without crashing.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UI Features: Modern dark mode with Quick Test Presets.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5882335" cy="4389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C167"/>
                </a:solidFill>
              </a:defRPr>
            </a:pPr>
            <a:r>
              <a:t>LIVE TEST SUITE VERIFICATION (TASK 3 SPECIFICATION)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</a:defRPr>
            </a:pPr>
            <a:r>
              <a:t>Automated Test Case Execution</a:t>
            </a:r>
          </a:p>
          <a:p>
            <a:pPr>
              <a:spcBef>
                <a:spcPts val="800"/>
              </a:spcBef>
              <a:defRPr sz="1200" b="1">
                <a:solidFill>
                  <a:srgbClr val="06C167"/>
                </a:solidFill>
              </a:defRPr>
            </a:pPr>
            <a:r>
              <a:t>Test 1: Short Daytime Trip [PASS ✓]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Input: 2.5 km · Midtown weekday morning  →  Output: $12.55</a:t>
            </a:r>
          </a:p>
          <a:p>
            <a:pPr>
              <a:spcBef>
                <a:spcPts val="800"/>
              </a:spcBef>
              <a:defRPr sz="1200" b="1">
                <a:solidFill>
                  <a:srgbClr val="06C167"/>
                </a:solidFill>
              </a:defRPr>
            </a:pPr>
            <a:r>
              <a:t>Test 2: JFK Airport Trip [PASS ✓]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Input: 18.0 km · Picked up near JFK Queens  →  Output: $51.02</a:t>
            </a:r>
          </a:p>
          <a:p>
            <a:pPr>
              <a:spcBef>
                <a:spcPts val="800"/>
              </a:spcBef>
              <a:defRPr sz="1200" b="1">
                <a:solidFill>
                  <a:srgbClr val="06C167"/>
                </a:solidFill>
              </a:defRPr>
            </a:pPr>
            <a:r>
              <a:t>Test 3: Late-Night Weekend [PASS ✓]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Input: 6.0 km · Saturday night 23:30  →  Output: $20.49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</a:defRPr>
            </a:pPr>
            <a:r>
              <a:t>Test 4: Invalid Edge Case [PASS ✓]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Input: Distance = -5.0 km (Negative)  →  Output: Caught: 'Distance &gt; 0'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6C167"/>
                </a:solidFill>
              </a:defRPr>
            </a:pPr>
            <a:r>
              <a:t>DELIVERABLE 13C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Technical Roadmap: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6EF1"/>
                </a:solidFill>
              </a:defRPr>
            </a:pPr>
            <a:r>
              <a:t>1. Gradient Boosting Ensembles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LightGBM &amp; XGBoost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Train tuned LightGBM and CatBoost regressors with leaf-wise splitting and native categorical handling to reduce RMSE even further while cutting inference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35424" y="178308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C167"/>
                </a:solidFill>
              </a:defRPr>
            </a:pPr>
            <a:r>
              <a:t>2. Target Transformation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TransformedTargetRegressor (log1p)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Apply np.log1p log-transform to fare_amount to compress the right-skewed distribution, training in log space and exponentiating predictions back to dollars.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4736" y="178308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3. Cyclical Trigonometric Encoding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Sin/Cos Temporal Embeddings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Encode hour and day of week into sin(2*pi*t/T) and cos(2*pi*t/T) so the model perceives 23:00 and 00:00 as continuous adjacent time intervals.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02336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76EF1"/>
                </a:solidFill>
              </a:defRPr>
            </a:pPr>
            <a:r>
              <a:t>4. Real-Time Geocoding &amp; Traffic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Google Maps / OSRM API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Replace straight-line Haversine distance with actual road routing distance and real-time traffic congestion coefficients.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388620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402336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C167"/>
                </a:solidFill>
              </a:defRPr>
            </a:pPr>
            <a:r>
              <a:t>5. Containerization &amp; Cloud CI/CD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Docker &amp; Kubernetes Deployment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Package the Flask app and joblib artifacts into a lightweight Docker container with gunicorn workers and deploy to AWS / GCP.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3886200"/>
            <a:ext cx="3474720" cy="2103120"/>
          </a:xfrm>
          <a:prstGeom prst="roundRect">
            <a:avLst/>
          </a:prstGeom>
          <a:solidFill>
            <a:srgbClr val="141A2B"/>
          </a:solidFill>
          <a:ln w="12700">
            <a:solidFill>
              <a:srgbClr val="2D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4023360"/>
            <a:ext cx="314553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6. Production Drift Monitoring</a:t>
            </a:r>
          </a:p>
          <a:p>
            <a:pPr>
              <a:spcBef>
                <a:spcPts val="300"/>
              </a:spcBef>
              <a:defRPr sz="1000" b="1">
                <a:solidFill>
                  <a:srgbClr val="F8FAFC"/>
                </a:solidFill>
              </a:defRPr>
            </a:pPr>
            <a:r>
              <a:t>Evidently AI / MLflow Tracking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</a:defRPr>
            </a:pPr>
            <a:r>
              <a:t>Implement continuous monitoring on live inputs to detect data drift (e.g. rising fuel prices, route shifts) and automate scheduled pipeline 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